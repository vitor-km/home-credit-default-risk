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f3itBbH0/V4K8I7MdbQM7Ybgx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02CD0F-48FF-4E79-AEBE-D6D99DD5AFF9}">
  <a:tblStyle styleId="{2402CD0F-48FF-4E79-AEBE-D6D99DD5AF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2286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PD MODELING — METHODOLOGY &amp;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Home Credit Default Risk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35661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XGBoost benchmark and a fully auditable WoE/IV logistic regression scorecard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9776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6D1"/>
                </a:solidFill>
                <a:latin typeface="Calibri"/>
                <a:ea typeface="Calibri"/>
                <a:cs typeface="Calibri"/>
                <a:sym typeface="Calibri"/>
              </a:rPr>
              <a:t>Technical deep dive: feature engineering, variable selection, multicollinearity diagnostics, and validation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6D1"/>
                </a:solidFill>
                <a:latin typeface="Calibri"/>
                <a:ea typeface="Calibri"/>
                <a:cs typeface="Calibri"/>
                <a:sym typeface="Calibri"/>
              </a:rPr>
              <a:t>Kaggle: Home Credit Default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SCOPE &amp; VALIDATION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Dataset, scope decision, and evaluation methodology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02920" y="1371600"/>
            <a:ext cx="2651760" cy="1371600"/>
          </a:xfrm>
          <a:prstGeom prst="roundRect">
            <a:avLst>
              <a:gd fmla="val 4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0292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307,511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210312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clients (application_train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+ aggregated bureau.csv)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337560" y="1371600"/>
            <a:ext cx="2651760" cy="1371600"/>
          </a:xfrm>
          <a:prstGeom prst="roundRect">
            <a:avLst>
              <a:gd fmla="val 4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33756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8.07%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337560" y="210312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historical bad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72200" y="1371600"/>
            <a:ext cx="2651760" cy="1371600"/>
          </a:xfrm>
          <a:prstGeom prst="roundRect">
            <a:avLst>
              <a:gd fmla="val 4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17220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156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172200" y="210312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columns after merge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(154 candidate features)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006840" y="1371600"/>
            <a:ext cx="2651760" cy="1371600"/>
          </a:xfrm>
          <a:prstGeom prst="roundRect">
            <a:avLst>
              <a:gd fmla="val 4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00684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80/20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006840" y="210312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stratified train/validation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split, seed fixed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SCOPE DECISION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3383280"/>
            <a:ext cx="5577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This slice of the pipeline is intentionally limited to application_train.csv plus aggregated bureau.csv, not the full relational schema (previous_application, POS_CASH_balance, credit_card_balance, installments_payments). The goal was to validate a complete pipeline end to end before scaling data complexity, a deliberate MVP-style sequencing rather than a scope gap.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35508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VALIDATION METHODOLOGY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55080" y="3383280"/>
            <a:ext cx="53949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XGBoost: stratified 5-fold CV for the performance estimate, plus a fixed 80/20 split for SHAP and gain-curve artifacts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Scorecard: WoE tables and bin edges computed strictly on the training split, applied (never recalculated) on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Gain curves use out-of-fold predictions (XGBoost, full base) or held-out validation (scorecard); the two are not on identical populations, noted explicitly wherever compared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Column-by-column aggregation of bureau.csv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bureau.csv (1,716,428 rows, 17 columns, 5.61 rows/client) aggregated to SK_ID_CURR level using an explicit per-column rule, not blanket mean/sum: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3"/>
          <p:cNvGraphicFramePr/>
          <p:nvPr/>
        </p:nvGraphicFramePr>
        <p:xfrm>
          <a:off x="50292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103125"/>
                <a:gridCol w="5852150"/>
                <a:gridCol w="32004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 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AMT_CREDIT_SUM, AMT_CREDIT_SUM_DEBT, AMT_CREDIT_SUM_LIMIT, AMT_ANNUITY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exposure is additive across credits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DAYS_CREDIT, CREDIT_DAY_OVERDUE, AMT_* fields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per-credit profile, normalized by 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CREDIT_DAY_OVERDUE, AMT_CREDIT_MAX_OVERDUE, DAYS_CREDIT_UPDATE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Worst-case signal a mean would dilute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/ crosstab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CREDIT_ACTIVE (4 categories)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cardinality, equivalent to one-hot via 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nunique + mode 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CREDIT_TYPE (15 categories)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Diversification and concentration signals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excluded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CREDIT_CURRENCY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99.92% concentrated in one category, no discriminative power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3"/>
          <p:cNvSpPr/>
          <p:nvPr/>
        </p:nvSpPr>
        <p:spPr>
          <a:xfrm>
            <a:off x="502920" y="571500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Result: 29 features, bureau_agg (305,811 clients). Merged into application_train via SK_ID_CURR (left join): 44,020 clients (14.3%) have no bureau history, an MNAR pattern consistent with prior EDA findings, not a merge defect.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XGBOOST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Hyperparameters and 5-fold stratified validation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4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468875"/>
                <a:gridCol w="28346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scale_pos_weight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11.39 (train class ratio)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tree_method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enable_categorical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(native pandas category dtype)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4"/>
          <p:cNvSpPr/>
          <p:nvPr/>
        </p:nvSpPr>
        <p:spPr>
          <a:xfrm>
            <a:off x="502920" y="402336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No tuning performed at this stage; near-default hyperparameters used as a reference point (see Limitations).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5-FOLD STRATIFIED CV (154 FEATURES)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4"/>
          <p:cNvGraphicFramePr/>
          <p:nvPr/>
        </p:nvGraphicFramePr>
        <p:xfrm>
          <a:off x="6172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1645925"/>
                <a:gridCol w="14630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0.7544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(std)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0.7588 (±0.0039)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4"/>
          <p:cNvSpPr/>
          <p:nvPr/>
        </p:nvSpPr>
        <p:spPr>
          <a:xfrm>
            <a:off x="9464040" y="1691640"/>
            <a:ext cx="2194560" cy="2377440"/>
          </a:xfrm>
          <a:prstGeom prst="roundRect">
            <a:avLst>
              <a:gd fmla="val 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64692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HOLDOUT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646920" y="2148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0.7614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646920" y="274320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single 80/20 split, within fold range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72200" y="44805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The holdout AUC (0.7614) falls inside the fold range (0.7544–0.7640), confirming it is not a favorable-split artifact. Standard deviation (0.0039) is small relative to the mean, indicating stable generalization.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Redundancy diagnostics in the 15-feature XGBoost variant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Top 15 selected by native feature importance from the train-only baseline model (avoiding validation-based selection bias). Two suspected redundancies were tested empirically, not assumed from correlation alone: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" y="1965960"/>
            <a:ext cx="5440680" cy="3566160"/>
          </a:xfrm>
          <a:prstGeom prst="roundRect">
            <a:avLst>
              <a:gd fmla="val 1538" name="adj"/>
            </a:avLst>
          </a:prstGeom>
          <a:solidFill>
            <a:srgbClr val="EA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CONFIRMED: DAYS_EMPLOYED removed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DAYS_EMPLOYED and YEARS_EMPLOYED are a deterministic linear transform of each other (YEARS = -DAYS/365). Both appeared in the naive top-15.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22960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mbria"/>
                <a:ea typeface="Cambria"/>
                <a:cs typeface="Cambria"/>
                <a:sym typeface="Cambria"/>
              </a:rPr>
              <a:t>Mean k-fold AUC: 0.7514 → 0.7525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406908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Removing the exact duplicate improved AUC (AMT_CREDIT was promoted into the set), confirming zero information loss.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172200" y="1965960"/>
            <a:ext cx="5440680" cy="3566160"/>
          </a:xfrm>
          <a:prstGeom prst="roundRect">
            <a:avLst>
              <a:gd fmla="val 1538" name="adj"/>
            </a:avLst>
          </a:prstGeom>
          <a:solidFill>
            <a:srgbClr val="FB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TESTED AND REVERTED: AMT_GOODS_PRICE kept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AMT_GOODS_PRICE correlates 0.99 with AMT_CREDIT, but is not a deterministic transform (down payments, partial financing cause divergence).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92240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Mean k-fold AUC: 0.7525 → 0.7499 (removed)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492240" y="406908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Removal measurably hurt AUC: high correlation without an exact functional relationship still carried marginal signal. Both variables kept.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Principle: correlation is a reason to test removal, not a rule to remove automatically. Final: 15 features, mean k-fold AUC 0.7525, holdout AUC 0.7538.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EXPLAINABILITY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SHAP (aggregate)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02920" y="1325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SHAP — TOP DRIVERS (15-feature model)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2920" y="1645920"/>
            <a:ext cx="53035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EXT_SOURCE_3, EXT_SOURCE_2, EXT_SOURCE_1: dominant, high value pushes prediction toward lower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AMT_GOODS_PRICE, AMT_CREDIT, AMT_ANNUITY: higher values associate with lower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Categorical variables (NAME_EDUCATION_TYPE, CODE_GENDER, NAME_CONTRACT_TYPE) show no color gradient: real effect, no "more/less" 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Limitation: explains the model in aggregate, not any individual applicant's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840" y="1267968"/>
            <a:ext cx="5688452" cy="5071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FROM MODEL TO SCORECARD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Why WoE/IV, and the underlying formulas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" y="1325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2920" y="1645920"/>
            <a:ext cx="5303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XGBoost captures non-linearity natively (tree splits); WoE exists specifically to give a linear model that same capability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Logistic regression's additive structure (intercept + Σ coefficient × WoE) is exactly what a point table requires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Regulatory expectation in credit risk: an auditable, coefficient-level explanation for every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3794760"/>
            <a:ext cx="5303520" cy="1828800"/>
          </a:xfrm>
          <a:prstGeom prst="roundRect">
            <a:avLst>
              <a:gd fmla="val 3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22960" y="39776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WoE = ln( %good / %bad 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22960" y="44348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IV = Σ (%good − %bad) × WoE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22960" y="493776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%good/%bad computed with additive (Laplace) smoothing, α = 0.5, to avoid ln(x/0) when a bin has zero bad cases.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172200" y="1325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IV THRESHOLDS (SIDDIQI)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7"/>
          <p:cNvGraphicFramePr/>
          <p:nvPr/>
        </p:nvGraphicFramePr>
        <p:xfrm>
          <a:off x="617220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011675"/>
                <a:gridCol w="347472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 range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discrimination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 – 0.10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 – 0.30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 – 0.50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0.50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Suspicious (possible leakage)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7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VARIABLE UNIVERSE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Full IV scan, concept-level deduplication, instability correction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155 candidate variables scanned for IV. Concept-based deduplication (regex grouping of _AVG/_MODE/_MEDI variants and DAYS_X/YEARS_X pairs, keeping the highest-IV variable per group) reduced this to 121.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02920" y="1965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INSTABILITY CORRECTIONS APPLIED TO THE TOP-40 BUFFER (11 VARIABLES FLAGGED)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8"/>
          <p:cNvGraphicFramePr/>
          <p:nvPr/>
        </p:nvGraphicFramePr>
        <p:xfrm>
          <a:off x="50292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377450"/>
                <a:gridCol w="4663450"/>
                <a:gridCol w="41148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— sparse Missing bin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EXT_SOURCE_2, AMT_GOODS_PRICE, DAYS_LAST_PHONE_CHANGE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Merged into nearest numeric bin by WoE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— single rare 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CODE_GENDER (XNA, 4 records)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 as documented residual; insufficient volume for any merge criterion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— many small categories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OCCUPATION_TYPE, ORGANIZATION_TYPE, NAME_INCOME_TYPE, WALLSMATERIAL_MODE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Collapsed into 'Other_grouped', cascading merge into nearest large category if still unstable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— dominant Zero 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BUREAU_AMT_CREDIT_SUM_DEBT_SUM (29.2% zero), BUREAU_AMT_CREDIT_SUM_LIMIT_MEAN (79.9% zero)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isolated as its own explicit bin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8"/>
          <p:cNvSpPr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AMT_GOODS_PRICE required a dedicated resolution: naive 10-bin WoE was non-monotonic (not a small-sample artifact, all bins &gt; 18,900 records). Finer binning (20 bins) raised IV from 0.0919 to 0.1025; iterative surgical merging (smallest WoE-difference pairs first) reduced to 12 bins at IV 0.1006, validated stable across 5 folds (WoE std 0.005–0.037 per bin). Later excluded from the final set on business-communication grounds, not statistical grounds, and replaced by ELEVATORS_AVG.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MULTICOLLINEARITY PRUNING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Correlation-based reduction: 30 → 22 variables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Sign-check on the initial 30-variable logistic regression flagged 8 of 30 coefficients with an unexpected sign (WoE convention: coefficient should be negative, since higher WoE = safer bin = lower log-odds of default). Systematic pairwise correlation scan (|r| ≥ 0.7) identified two redundant clusters: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9"/>
          <p:cNvGraphicFramePr/>
          <p:nvPr/>
        </p:nvGraphicFramePr>
        <p:xfrm>
          <a:off x="50292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377450"/>
                <a:gridCol w="6309350"/>
                <a:gridCol w="246887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 (highest |r|)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Kept (highest IV)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 attributes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TOTALAREA_MODE, LIVINGAREA_AVG, FLOORSMAX_AVG, ELEVATORS_AVG (r = 0.84–0.94)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FLOORSMAX_AVG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 credit dates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BUREAU_DAYS_CREDIT_MEAN/MIN, _UPDATE_MEAN, _ENDDATE_MEAN, DAYS_ENDDATE_FACT_MEAN (r = 0.71–0.89)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BUREAU_DAYS_CREDIT_MEAN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 amounts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BUREAU_AMT_CREDIT_SUM_DEBT_MEAN/SUM (r = 0.85); LIMIT_MEAN/SUM (r = 0.81)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_MEAN variant of each pair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9"/>
          <p:cNvSpPr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Rule: within each correlated pair, keep the higher-IV variable, drop the other. Result: 8 variables removed, 22 remain.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4663440"/>
            <a:ext cx="3520440" cy="1234440"/>
          </a:xfrm>
          <a:prstGeom prst="roundRect">
            <a:avLst>
              <a:gd fmla="val 4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02920" y="480060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0.7417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53949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AUC before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279392" y="4663440"/>
            <a:ext cx="3520440" cy="1234440"/>
          </a:xfrm>
          <a:prstGeom prst="roundRect">
            <a:avLst>
              <a:gd fmla="val 4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279392" y="480060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0.7408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279392" y="53949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AUC after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055864" y="4663440"/>
            <a:ext cx="3520440" cy="1234440"/>
          </a:xfrm>
          <a:prstGeom prst="roundRect">
            <a:avLst>
              <a:gd fmla="val 4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055864" y="480060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 → 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055864" y="53949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Sign inconsistencies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GROUPED STEPWISE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Siddiqi's information-type grouping applied to the remaining 4 sign flips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4 variables still showed unexpected coefficient signs after correlation pruning. Siddiqi's grouped-regression method (Ch. 10, Exhibit 10.14) evaluates variables by information-type group before combining, deliberately entering the dominant group last: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02920" y="196596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GROUPS (IN ENTRY ORDER): personal/demographic (10) → current credit (2) → bureau history (7) → external score (3, entered last)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0"/>
          <p:cNvGraphicFramePr/>
          <p:nvPr/>
        </p:nvGraphicFramePr>
        <p:xfrm>
          <a:off x="50292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2377450"/>
                <a:gridCol w="2286000"/>
                <a:gridCol w="22860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Cumulative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AGE_YEARS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BUREAU_CREDIT_ACTIVE_CLOSED_COUNT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demographic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-0.4663 (correct)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current credit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-0.4323 (correct)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bureau history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-0.3068 (correct)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+0.4029 (unexpected)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external score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+0.1241 (flips)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+0.0247 (n.s., p = 0.63)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0"/>
          <p:cNvSpPr/>
          <p:nvPr/>
        </p:nvSpPr>
        <p:spPr>
          <a:xfrm>
            <a:off x="7680960" y="2377440"/>
            <a:ext cx="3977640" cy="2606040"/>
          </a:xfrm>
          <a:prstGeom prst="roundRect">
            <a:avLst>
              <a:gd fmla="val 2105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7909560" y="25603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ABLATION CONFIRMS DOMINANCE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909560" y="292608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Model refit without any EXT_SOURCE variable: AGE_YEARS returns to -0.3202 (correct sign). AUC drops to 0.6845 (from 0.7408), quantifying how much predictive power the external score alone contributes.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AGE_YEARS's sign flip is explained by dominance from EXT_SOURCE. BUREAU_CREDIT_ACTIVE_CLOSED_COUNT is not, it is unexpected before EXT_SOURCE even enters, and becomes statistically non-significant (p = 0.63) in the full model. This diagnosis explains 1 of 4 remaining flips; the other 3 (including BUREAU_CREDIT_ACTIVE_CLOSED_COUNT) required a different approach, covered next.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FINAL PRUNING: BACKWARD ELIMINATION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From 22 to 17 variables, method named explicitly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02920" y="132588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Correlation and VIF ruled out multicollinearity as the cause of the remaining sign flips (BUREAU_DAYS_CREDIT_UPDATE_MAX, NAME_INCOME_TYPE_BINNED, BUREAU_CREDIT_ACTIVE_CLOSED_COUNT): all VIF values in the bureau cluster stayed below 2.2, well under the conventional concern threshold (5). With no isolable statistical cause, the remaining decision criterion was empirical: does removing the variable measurably reduce AUC?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1"/>
          <p:cNvGraphicFramePr/>
          <p:nvPr/>
        </p:nvGraphicFramePr>
        <p:xfrm>
          <a:off x="50292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3383275"/>
                <a:gridCol w="1280150"/>
                <a:gridCol w="11887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Bureau-group variable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pairwise |r|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VIF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BUREAU_DAYS_CREDIT_ENDDATE_MEAN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BUREAU_DAYS_CREDIT_UPDATE_MAX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BUREAU_DAYS_CREDIT_MEAN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BUREAU_CREDIT_ACTIVE_ACTIVE_COUNT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BUREAU_AMT_CREDIT_SUM_DEBT_MEAN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BUREAU_CREDIT_ACTIVE_CLOSED_COUNT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BUREAU_AMT_CREDIT_SUM_LIMIT_MEAN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11"/>
          <p:cNvSpPr/>
          <p:nvPr/>
        </p:nvSpPr>
        <p:spPr>
          <a:xfrm>
            <a:off x="502920" y="525780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VIF rules out combined multicollinearity as the cause; it does not identify what the cause is. This is a valid, honest outcome, not a dead end: it tells us the remaining decision has to be made on predictive contribution, not on a diagnosed statistical defect.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629400" y="2240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BACKWARD ELIMINATION, STEP BY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1"/>
          <p:cNvGraphicFramePr/>
          <p:nvPr/>
        </p:nvGraphicFramePr>
        <p:xfrm>
          <a:off x="662940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3108950"/>
                <a:gridCol w="822950"/>
                <a:gridCol w="91440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vars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 pruning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 BUREAU_CREDIT_ACTIVE_CLOSED_COUNT (p = 0.63, formal significance test)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 AGE_YEARS, NAME_INCOME_TYPE_BINNED, BUREAU_DAYS_CREDIT_UPDATE_MAX (tested together)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 BUREAU_DAYS_CREDIT_ENDDATE_MEAN (coef ≈ 0.011)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1"/>
          <p:cNvSpPr/>
          <p:nvPr/>
        </p:nvSpPr>
        <p:spPr>
          <a:xfrm>
            <a:off x="6629400" y="4892040"/>
            <a:ext cx="5029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Every step above is the same criterion applied twice, once formally (p-value, a statistical test of whether a coefficient could be zero given the other variables), once by direct ablation (remove and re-measure AUC). Total cost: 0.0011 AUC (0.7417 → 0.7406) to eliminate every sign inconsistency across 13 removed variables.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FINAL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17-variable logistic regression, all coefficients sign-consistent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2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3840475"/>
                <a:gridCol w="164592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Variable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EXT_SOURCE_2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-0.7628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EXT_SOURCE_3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-0.7553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NAME_EDUCATION_TYPE_BINNED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-0.5863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EXT_SOURCE_1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-0.5264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AMT_CREDIT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-0.5188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CODE_GENDER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-0.4689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YEARS_EMPLOYED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-0.3594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ORGANIZATION_TYPE_BINNED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-0.3495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Google Shape;190;p12"/>
          <p:cNvGraphicFramePr/>
          <p:nvPr/>
        </p:nvGraphicFramePr>
        <p:xfrm>
          <a:off x="6172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3840475"/>
                <a:gridCol w="164592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Variable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FLOORSMAX_AVG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-0.3235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BUREAU_CREDIT_ACTIVE_ACTIVE_COUNT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-0.2549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BUREAU_AMT_CREDIT_SUM_LIMIT_MEAN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-0.2411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OCCUPATION_TYPE_BINNED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-0.2383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REGION_POPULATION_RELATIVE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-0.2029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DAYS_ID_PUBLISH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-0.1957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BUREAU_AMT_CREDIT_SUM_DEBT_MEAN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-0.1653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DAYS_LAST_PHONE_CHANGE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-0.1610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BUREAU_DAYS_CREDIT_MEAN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-0.0793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2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All 17 coefficients negative, consistent with WoE convention (higher WoE = safer bin = lower log-odds of default). No exceptions.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POINT SCALE CALIBRATION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Factor/Offset derivation and two calibration attempts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02920" y="1371600"/>
            <a:ext cx="5394960" cy="1371600"/>
          </a:xfrm>
          <a:prstGeom prst="roundRect">
            <a:avLst>
              <a:gd fmla="val 4000" name="adj"/>
            </a:avLst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777240" y="15087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Score = Offset + Factor × ln(odds)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Factor = PDO / ln(2)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777240" y="2331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Offset = Score_ref − Factor × ln(Odds_ref)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3"/>
          <p:cNvGraphicFramePr/>
          <p:nvPr/>
        </p:nvGraphicFramePr>
        <p:xfrm>
          <a:off x="6172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731525"/>
                <a:gridCol w="2286000"/>
                <a:gridCol w="24688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Attempt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PDO=20, Score=600, Odds=50:1 (market convention)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 too narrow (402–582); anchor point (50:1) far safer than the actual 11.4:1 base odds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PDO=20, Score=500, Odds=11.4:1 (bad-rate-implied)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did not land on 500 (439.6); class_weight='balanced' shifted the model's own intercept away from the true prior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PDO=40, Score=500, Offset anchored on the model's own empirical mean log-odds on training data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500.16, std 52.72, range 312–669 (validation)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3"/>
          <p:cNvSpPr/>
          <p:nvPr/>
        </p:nvSpPr>
        <p:spPr>
          <a:xfrm>
            <a:off x="502920" y="301752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Key lesson: class_weight='balanced' recalibrates the model's intercept to treat classes as equally weighted, so the population's average predicted log-odds no longer matches the true 8.07% bad rate directly. The offset must anchor on the model's own empirical average, not a theoretical bad-rate-implied value.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502920" y="4114800"/>
            <a:ext cx="11155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Point contribution per bin: base_points_per_characteristic + (−Factor × coefficient × WoE), with the constant term (Offset − Factor × intercept) distributed evenly across the 17 characteristics. Validated additively: summed points reproduce the model's direct score within rounding.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AUC, KS, Gini, and leakage controls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02920" y="1371600"/>
            <a:ext cx="3520440" cy="173736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502920" y="155448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502920" y="1874520"/>
            <a:ext cx="3520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0.7406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4279392" y="1371600"/>
            <a:ext cx="3520440" cy="173736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4279392" y="155448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279392" y="1874520"/>
            <a:ext cx="3520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0.3621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8055864" y="1371600"/>
            <a:ext cx="3520440" cy="173736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8055864" y="155448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8055864" y="1874520"/>
            <a:ext cx="3520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0.4812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502920" y="32918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Gini = 2 × AUC − 1 (0.4812, confirmed). KS in the "reasonable to good" range by common thresholds (30–40).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502920" y="3840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LEAKAGE CONTROLS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502920" y="4160520"/>
            <a:ext cx="11155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WoE tables and bin edges frozen strictly on the training split; validation data is only ever looked up, never used to recompute bins or categories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Numeric bins matched by position (pd.cut with fixed edges, labels=False), not by Interval-object identity, avoiding a floating-point mismatch bug found and fixed during development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Categorical rare-category collapsing frozen as an explicit raw-category-to-bucket dictionary; unseen categories at scoring time fall back to 'Other_grouped' or 'Missing', never a new bucket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BUSINESS GAIN: SCORECARD VS. XGBOOST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1F"/>
                </a:solidFill>
                <a:latin typeface="Cambria"/>
                <a:ea typeface="Cambria"/>
                <a:cs typeface="Cambria"/>
                <a:sym typeface="Cambria"/>
              </a:rPr>
              <a:t>Absolute and relative default-rate reduction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15"/>
          <p:cNvGraphicFramePr/>
          <p:nvPr/>
        </p:nvGraphicFramePr>
        <p:xfrm>
          <a:off x="5029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{2402CD0F-48FF-4E79-AEBE-D6D99DD5AFF9}</a:tableStyleId>
              </a:tblPr>
              <a:tblGrid>
                <a:gridCol w="1645925"/>
                <a:gridCol w="1920250"/>
                <a:gridCol w="1920250"/>
                <a:gridCol w="20116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(pp)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Scorecard (pp)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Scorecard (relative 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36.3%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3.76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1B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46.6%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15"/>
          <p:cNvSpPr/>
          <p:nvPr/>
        </p:nvSpPr>
        <p:spPr>
          <a:xfrm>
            <a:off x="8229600" y="1463040"/>
            <a:ext cx="3429000" cy="3108960"/>
          </a:xfrm>
          <a:prstGeom prst="roundRect">
            <a:avLst>
              <a:gd fmla="val 176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8503920" y="17373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~90–93%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8503920" y="2468880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 the XGBoost baseline's business gain is retained by the 17-variable scorecard, at every rejection threshold tested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3842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2026-09-05T19:20:40Z</dcterms:created>
  <dc:creator>PptxGenJS</dc:creator>
</cp:coreProperties>
</file>